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Quattrocento"/>
      <p:regular r:id="rId15"/>
    </p:embeddedFont>
    <p:embeddedFont>
      <p:font typeface="Quattrocento"/>
      <p:regular r:id="rId16"/>
    </p:embeddedFont>
    <p:embeddedFont>
      <p:font typeface="Quattrocento"/>
      <p:regular r:id="rId17"/>
    </p:embeddedFont>
    <p:embeddedFont>
      <p:font typeface="Quattrocen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3658" y="179427"/>
            <a:ext cx="5247084" cy="7870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224075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Origen de los Datos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37724" y="3303746"/>
            <a:ext cx="7468553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6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¿De dónde viene lo que sabes?</a:t>
            </a:r>
            <a:endParaRPr lang="en-US" sz="6100" dirty="0"/>
          </a:p>
        </p:txBody>
      </p:sp>
      <p:sp>
        <p:nvSpPr>
          <p:cNvPr id="6" name="Text 3"/>
          <p:cNvSpPr/>
          <p:nvPr/>
        </p:nvSpPr>
        <p:spPr>
          <a:xfrm>
            <a:off x="837724" y="560582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58" y="179427"/>
            <a:ext cx="5247084" cy="7870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4124" y="206144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¿Qué es el Origen de los Datos?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683097" y="4097655"/>
            <a:ext cx="710957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origen de los datos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(o </a:t>
            </a:r>
            <a:pPr algn="l" indent="0" marL="0">
              <a:lnSpc>
                <a:spcPts val="3000"/>
              </a:lnSpc>
              <a:buNone/>
            </a:pPr>
            <a:r>
              <a:rPr lang="en-US" sz="1850" i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Provenance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) es el rastro que deja la información desde que se genera hasta que llega a ti: quién la creó, cómo se transformó y por qué caminos viajó.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6324124" y="3828455"/>
            <a:ext cx="30480" cy="1687473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7" name="Text 4"/>
          <p:cNvSpPr/>
          <p:nvPr/>
        </p:nvSpPr>
        <p:spPr>
          <a:xfrm>
            <a:off x="6324124" y="578512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91533"/>
            <a:ext cx="705873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Analogía que Nunca Falla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974300"/>
            <a:ext cx="4158734" cy="3463647"/>
          </a:xfrm>
          <a:prstGeom prst="roundRect">
            <a:avLst>
              <a:gd name="adj" fmla="val 1037"/>
            </a:avLst>
          </a:prstGeom>
          <a:solidFill>
            <a:srgbClr val="315251"/>
          </a:solidFill>
          <a:ln/>
        </p:spPr>
      </p:sp>
      <p:sp>
        <p:nvSpPr>
          <p:cNvPr id="4" name="Shape 2"/>
          <p:cNvSpPr/>
          <p:nvPr/>
        </p:nvSpPr>
        <p:spPr>
          <a:xfrm>
            <a:off x="107703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4445" y="3411022"/>
            <a:ext cx="323136" cy="323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41709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Mano 1: El origen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039" y="4666536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Alguien mide, registra o genera el dato por primera vez. ¿Con qué método? ¿Con qué intención?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2974300"/>
            <a:ext cx="4158734" cy="3463647"/>
          </a:xfrm>
          <a:prstGeom prst="roundRect">
            <a:avLst>
              <a:gd name="adj" fmla="val 1037"/>
            </a:avLst>
          </a:prstGeom>
          <a:solidFill>
            <a:srgbClr val="315251"/>
          </a:solidFill>
          <a:ln/>
        </p:spPr>
      </p:sp>
      <p:sp>
        <p:nvSpPr>
          <p:cNvPr id="9" name="Shape 6"/>
          <p:cNvSpPr/>
          <p:nvPr/>
        </p:nvSpPr>
        <p:spPr>
          <a:xfrm>
            <a:off x="547508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495" y="3411022"/>
            <a:ext cx="323136" cy="323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5089" y="4170998"/>
            <a:ext cx="339792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Mano 2: La transformación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5089" y="4666536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dato se limpia, filtra o combina. Cada paso introduce decisiones que pueden distorsionarlo.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33823" y="2974300"/>
            <a:ext cx="4158853" cy="3463647"/>
          </a:xfrm>
          <a:prstGeom prst="roundRect">
            <a:avLst>
              <a:gd name="adj" fmla="val 1037"/>
            </a:avLst>
          </a:prstGeom>
          <a:solidFill>
            <a:srgbClr val="315251"/>
          </a:solidFill>
          <a:ln/>
        </p:spPr>
      </p:sp>
      <p:sp>
        <p:nvSpPr>
          <p:cNvPr id="14" name="Shape 10"/>
          <p:cNvSpPr/>
          <p:nvPr/>
        </p:nvSpPr>
        <p:spPr>
          <a:xfrm>
            <a:off x="987313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0544" y="3411022"/>
            <a:ext cx="323136" cy="323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3139" y="41709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Mano 3: Tu decisión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3139" y="4666536"/>
            <a:ext cx="36802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Llega a ti como una gráfica, un informe o un dashboard. ¿Sabes qué ocurrió antes de ese momento?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1080492"/>
            <a:ext cx="4154686" cy="415468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83912" y="1845945"/>
            <a:ext cx="1975128" cy="44981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5727502" y="1917740"/>
            <a:ext cx="168794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POR QUÉ IMPORTA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83912" y="2391489"/>
            <a:ext cx="8216265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Los datos sin origen son una apuesta a ciegas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5583912" y="3757374"/>
            <a:ext cx="821626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Cuando no conoces el origen de un dato, no estás analizando información: estás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confiando en la integridad de quien te lo entregó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497" y="5781020"/>
            <a:ext cx="358973" cy="3589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15559" y="57735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Trazabilidad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615559" y="6269117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Permite auditar y reproducir cualquier análisis.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5549" y="5781020"/>
            <a:ext cx="358973" cy="3589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3611" y="57735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Responsabilidad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033611" y="6269117"/>
            <a:ext cx="334101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Identifica quién es responsable de cada transformación.</a:t>
            </a:r>
            <a:endParaRPr lang="en-US" sz="1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3601" y="5781020"/>
            <a:ext cx="358973" cy="3589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51663" y="577357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Confianza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451663" y="6269117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Sin origen verificable, no hay base sólida para decidir.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53" y="176570"/>
            <a:ext cx="5250894" cy="78763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1027" y="850821"/>
            <a:ext cx="7494746" cy="1386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¿Qué ocurre cuando se ignora?</a:t>
            </a:r>
            <a:endParaRPr lang="en-US" sz="4350" dirty="0"/>
          </a:p>
        </p:txBody>
      </p:sp>
      <p:sp>
        <p:nvSpPr>
          <p:cNvPr id="5" name="Shape 2"/>
          <p:cNvSpPr/>
          <p:nvPr/>
        </p:nvSpPr>
        <p:spPr>
          <a:xfrm>
            <a:off x="6311027" y="2584847"/>
            <a:ext cx="3631406" cy="2841903"/>
          </a:xfrm>
          <a:prstGeom prst="roundRect">
            <a:avLst>
              <a:gd name="adj" fmla="val 1244"/>
            </a:avLst>
          </a:pr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6546652" y="2820472"/>
            <a:ext cx="3024188" cy="36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🔴</a:t>
            </a:r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Pérdida de confianza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546652" y="3321248"/>
            <a:ext cx="3160157" cy="1869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 un dato resulta erróneo y no se puede rastrear su origen, toda la cadena de decisiones queda comprometida.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10174367" y="2584847"/>
            <a:ext cx="3631406" cy="2841903"/>
          </a:xfrm>
          <a:prstGeom prst="roundRect">
            <a:avLst>
              <a:gd name="adj" fmla="val 1244"/>
            </a:avLst>
          </a:prstGeom>
          <a:solidFill>
            <a:srgbClr val="315251"/>
          </a:solidFill>
          <a:ln/>
        </p:spPr>
      </p:sp>
      <p:sp>
        <p:nvSpPr>
          <p:cNvPr id="9" name="Text 6"/>
          <p:cNvSpPr/>
          <p:nvPr/>
        </p:nvSpPr>
        <p:spPr>
          <a:xfrm>
            <a:off x="10409992" y="2820472"/>
            <a:ext cx="3160157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⚠️</a:t>
            </a:r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Decisiones basadas en errores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0409992" y="3667720"/>
            <a:ext cx="3160157" cy="1495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Políticas, inversiones o estrategias construidas sobre datos corruptos amplifican el error en lugar de corregirlo.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6311027" y="5658683"/>
            <a:ext cx="7494746" cy="1719977"/>
          </a:xfrm>
          <a:prstGeom prst="roundRect">
            <a:avLst>
              <a:gd name="adj" fmla="val 2055"/>
            </a:avLst>
          </a:prstGeom>
          <a:solidFill>
            <a:srgbClr val="315251"/>
          </a:solidFill>
          <a:ln/>
        </p:spPr>
      </p:sp>
      <p:sp>
        <p:nvSpPr>
          <p:cNvPr id="12" name="Text 9"/>
          <p:cNvSpPr/>
          <p:nvPr/>
        </p:nvSpPr>
        <p:spPr>
          <a:xfrm>
            <a:off x="6546652" y="5894308"/>
            <a:ext cx="2772132" cy="36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💸</a:t>
            </a:r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Coste real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6546652" y="6395085"/>
            <a:ext cx="7023497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impacto no es solo técnico: afecta a personas, empresas y, en casos graves, a economías enteras.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661511"/>
            <a:ext cx="2467213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EF9C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8933" y="740926"/>
            <a:ext cx="216479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CASO DE ESTUDIO REAL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222296"/>
            <a:ext cx="1070467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Error que Sacudió la Economía Mundial</a:t>
            </a:r>
            <a:endParaRPr lang="en-US" sz="4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849285"/>
            <a:ext cx="4154686" cy="4154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83912" y="2524601"/>
            <a:ext cx="417218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Reinhart &amp; Rogoff, Harvard, 2010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83912" y="3115866"/>
            <a:ext cx="821626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Dos economistas de prestigio publicaron un estudio que concluía que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cuando la deuda pública supera el 90% del PIB, el crecimiento económico se desploma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583912" y="4480322"/>
            <a:ext cx="821626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Ese dato fue usado por gobiernos de EE.UU., Reino Unido y la UE para justificar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políticas de austeridad severa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que afectaron a millones de personas.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5583912" y="5898594"/>
            <a:ext cx="8216265" cy="1400175"/>
          </a:xfrm>
          <a:prstGeom prst="roundRect">
            <a:avLst>
              <a:gd name="adj" fmla="val 2564"/>
            </a:avLst>
          </a:prstGeom>
          <a:solidFill>
            <a:srgbClr val="44170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228" y="6247328"/>
            <a:ext cx="299204" cy="2393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61748" y="6197679"/>
            <a:ext cx="719911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problema: nadie verificó los datos originales antes de convertirlos en política.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72258"/>
            <a:ext cx="575393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Las Lecciones del Caso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055025"/>
            <a:ext cx="4158734" cy="3302198"/>
          </a:xfrm>
          <a:prstGeom prst="roundRect">
            <a:avLst>
              <a:gd name="adj" fmla="val 4431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3055025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3324820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El prestigio no garantiza rigor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4172307"/>
            <a:ext cx="35277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Publicado en una revista de Harvard y citado por organismos internacionales, el error pasó desapercibido durante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tres años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3055025"/>
            <a:ext cx="4158734" cy="3302198"/>
          </a:xfrm>
          <a:prstGeom prst="roundRect">
            <a:avLst>
              <a:gd name="adj" fmla="val 4431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05293" y="3055025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5597009" y="3324820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 trazabilidad es una red de seguridad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7009" y="4172307"/>
            <a:ext cx="352770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 alguien hubiera pedido ver los datos originales y el código de cálculo, el error se habría detectado antes de convertirse en política.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9633823" y="3055025"/>
            <a:ext cx="4158853" cy="3302198"/>
          </a:xfrm>
          <a:prstGeom prst="roundRect">
            <a:avLst>
              <a:gd name="adj" fmla="val 4431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3343" y="3055025"/>
            <a:ext cx="121920" cy="3302198"/>
          </a:xfrm>
          <a:prstGeom prst="roundRect">
            <a:avLst>
              <a:gd name="adj" fmla="val 29451"/>
            </a:avLst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9995059" y="3324820"/>
            <a:ext cx="35278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Preguntar por el origen no es desconfiar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95059" y="4172307"/>
            <a:ext cx="35278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 la actitud profesional mínima antes de tomar cualquier decisión basada en datos.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3658" y="179427"/>
            <a:ext cx="5247084" cy="78706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7724" y="2658308"/>
            <a:ext cx="1886664" cy="44981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sp>
        <p:nvSpPr>
          <p:cNvPr id="5" name="Text 2"/>
          <p:cNvSpPr/>
          <p:nvPr/>
        </p:nvSpPr>
        <p:spPr>
          <a:xfrm>
            <a:off x="981313" y="2730103"/>
            <a:ext cx="159948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REFLEXIÓN FINAL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7724" y="3203853"/>
            <a:ext cx="702052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Una Pregunta para el Grupo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196697" y="4536043"/>
            <a:ext cx="71095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¿Qué dato usáis vosotros sin mirar nunca de dónde sale, y qué pasaría si estuviera mal?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37724" y="4266843"/>
            <a:ext cx="30480" cy="1304449"/>
          </a:xfrm>
          <a:prstGeom prst="rect">
            <a:avLst/>
          </a:prstGeom>
          <a:solidFill>
            <a:srgbClr val="EF9C8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2026-04-13T07:58:27Z</dcterms:created>
  <dcterms:modified xsi:type="dcterms:W3CDTF">2026-04-13T07:58:27Z</dcterms:modified>
</cp:coreProperties>
</file>